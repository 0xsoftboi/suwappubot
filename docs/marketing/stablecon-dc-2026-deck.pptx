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30-second version: Suwappu routes swaps across 45 chains and 21 routers — the layer that decides which existing DEX or bridge should fill an intent, not another DEX itself. We separate 'prepared a transaction' from 'moved your funds' formally. And we shipped an application-layer compliance gate — allowlist/blocklist screening before every swap is signed, off by default, on when you turn it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'do you support X chain/token' — don't guess. Check live at the table: GET /v1/agent/chains.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demo /snipe, /fee, /hw, /st, /m — sniping and admin commands read as speculative/insider tooling to a compliance-minded audience. Test /s end-to-end the day before, per the live-verification rule.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371600"/>
            <a:ext cx="4937760" cy="4937760"/>
          </a:xfrm>
          <a:prstGeom prst="ellipse">
            <a:avLst/>
          </a:prstGeom>
          <a:solidFill>
            <a:srgbClr val="27336E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3108960" cy="3108960"/>
          </a:xfrm>
          <a:prstGeom prst="ellipse">
            <a:avLst/>
          </a:prstGeom>
          <a:solidFill>
            <a:srgbClr val="23306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SUWAPPU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63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execution layer between intent and markets.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chains · 21 routing integrations · a formal custody-authority ladder ·
</a:t>
            </a:r>
            <a:pPr indent="0" marL="0">
              <a:buNone/>
            </a:pPr>
            <a:r>
              <a:rPr lang="en-US" sz="15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screening built for permissioned settlement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STABLECON DC · SEPTEMBER 2026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suwappu.bot   ·   t.me/SuwappuBot   ·   api.suwappu.bot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swap isn't one operation. It's a search.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91640"/>
            <a:ext cx="51206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wakes up wanting to use a DEX aggregator — they want to get from token A to token B and be done.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part: “swap ETH for USDC” means asking which of 21 routing integrations can serve this pair, on this chain, right now, at what price.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Suwappu runs that search every time — quote comparison, simulation, and safety checks — before anything is signed.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92240" y="1600200"/>
            <a:ext cx="4937760" cy="1188720"/>
          </a:xfrm>
          <a:prstGeom prst="roundRect">
            <a:avLst>
              <a:gd name="adj" fmla="val 6923"/>
            </a:avLst>
          </a:prstGeom>
          <a:solidFill>
            <a:srgbClr val="F4F7FD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20840" y="19019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720840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52360" y="174650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452360" y="2075688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“swap 100 USDC → ETH” — from a human in Telegram or an agent over API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851392" y="2788920"/>
            <a:ext cx="219456" cy="365760"/>
          </a:xfrm>
          <a:prstGeom prst="downArrow">
            <a:avLst/>
          </a:prstGeom>
          <a:solidFill>
            <a:srgbClr val="B9C8EA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3172968"/>
            <a:ext cx="4937760" cy="1188720"/>
          </a:xfrm>
          <a:prstGeom prst="roundRect">
            <a:avLst>
              <a:gd name="adj" fmla="val 6923"/>
            </a:avLst>
          </a:prstGeom>
          <a:solidFill>
            <a:srgbClr val="F4F7FD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20840" y="3474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20840" y="3474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452360" y="33192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452360" y="3648456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quotes across eligible routers · simulation · safety checks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851392" y="4361688"/>
            <a:ext cx="219456" cy="365760"/>
          </a:xfrm>
          <a:prstGeom prst="downArrow">
            <a:avLst/>
          </a:prstGeom>
          <a:solidFill>
            <a:srgbClr val="B9C8EA"/>
          </a:solidFill>
          <a:ln/>
        </p:spPr>
      </p:sp>
      <p:sp>
        <p:nvSpPr>
          <p:cNvPr id="16" name="Shape 14"/>
          <p:cNvSpPr/>
          <p:nvPr/>
        </p:nvSpPr>
        <p:spPr>
          <a:xfrm>
            <a:off x="6492240" y="4745736"/>
            <a:ext cx="4937760" cy="1188720"/>
          </a:xfrm>
          <a:prstGeom prst="roundRect">
            <a:avLst>
              <a:gd name="adj" fmla="val 6923"/>
            </a:avLst>
          </a:prstGeom>
          <a:solidFill>
            <a:srgbClr val="F4F7FD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20840" y="5047488"/>
            <a:ext cx="566928" cy="5669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20840" y="50474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452360" y="4892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5221224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path picked across 45 chains — DEX, bridge, or both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surface, as shipped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from the generated stats file the docs treat as source of truth — not marketing rounding.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4F7FD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on the platform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51860" y="210312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1E2761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51860" y="2514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368046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integrations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10312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4F7FD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2514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660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exposed to AI agents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75420" y="210312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F4F7FD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075420" y="2514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6600" dirty="0"/>
          </a:p>
        </p:txBody>
      </p:sp>
      <p:sp>
        <p:nvSpPr>
          <p:cNvPr id="15" name="Text 13"/>
          <p:cNvSpPr txBox="1"/>
          <p:nvPr/>
        </p:nvSpPr>
        <p:spPr>
          <a:xfrm>
            <a:off x="9304020" y="379476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tools for agent callers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answer beats a slide: GET /v1/agent/chains or list_chains via MCP returns the current list.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Custody is never ambiguous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formal five-level authority ladder. A method name never implies authority it doesn't have.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7406640" cy="658368"/>
          </a:xfrm>
          <a:prstGeom prst="roundRect">
            <a:avLst>
              <a:gd name="adj" fmla="val 9722"/>
            </a:avLst>
          </a:prstGeom>
          <a:solidFill>
            <a:srgbClr val="F4F7FD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83664"/>
            <a:ext cx="457200" cy="457200"/>
          </a:xfrm>
          <a:prstGeom prst="ellipse">
            <a:avLst/>
          </a:prstGeom>
          <a:solidFill>
            <a:srgbClr val="B9C8E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5623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185623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chains, tokens, capabilities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569464"/>
            <a:ext cx="7406640" cy="658368"/>
          </a:xfrm>
          <a:prstGeom prst="roundRect">
            <a:avLst>
              <a:gd name="adj" fmla="val 9722"/>
            </a:avLst>
          </a:prstGeom>
          <a:solidFill>
            <a:srgbClr val="F4F7FD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670048"/>
            <a:ext cx="457200" cy="457200"/>
          </a:xfrm>
          <a:prstGeom prst="ellipse">
            <a:avLst/>
          </a:prstGeom>
          <a:solidFill>
            <a:srgbClr val="B9C8E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2670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6426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64261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 intent across routers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355848"/>
            <a:ext cx="7406640" cy="658368"/>
          </a:xfrm>
          <a:prstGeom prst="roundRect">
            <a:avLst>
              <a:gd name="adj" fmla="val 9722"/>
            </a:avLst>
          </a:prstGeom>
          <a:solidFill>
            <a:srgbClr val="F4F7FD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456432"/>
            <a:ext cx="457200" cy="457200"/>
          </a:xfrm>
          <a:prstGeom prst="ellipse">
            <a:avLst/>
          </a:prstGeom>
          <a:solidFill>
            <a:srgbClr val="B9C8E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34290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Dry-run the transaction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0080" y="4142232"/>
            <a:ext cx="7406640" cy="658368"/>
          </a:xfrm>
          <a:prstGeom prst="roundRect">
            <a:avLst>
              <a:gd name="adj" fmla="val 9722"/>
            </a:avLst>
          </a:prstGeom>
          <a:solidFill>
            <a:srgbClr val="F4F7FD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242816"/>
            <a:ext cx="457200" cy="457200"/>
          </a:xfrm>
          <a:prstGeom prst="ellipse">
            <a:avLst/>
          </a:prstGeom>
          <a:solidFill>
            <a:srgbClr val="B9C8E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2960" y="4242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463040" y="421538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3108960" y="421538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unsigned transaction — the user signs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4928616"/>
            <a:ext cx="7406640" cy="658368"/>
          </a:xfrm>
          <a:prstGeom prst="roundRect">
            <a:avLst>
              <a:gd name="adj" fmla="val 9722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50292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5029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50017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108960" y="500176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funds move — only under an explicit, separate grant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8321040" y="1783080"/>
            <a:ext cx="3200400" cy="3794760"/>
          </a:xfrm>
          <a:prstGeom prst="roundRect">
            <a:avLst>
              <a:gd name="adj" fmla="val 2857"/>
            </a:avLst>
          </a:prstGeom>
          <a:solidFill>
            <a:srgbClr val="EAF9F4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595360" y="2057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17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595360" y="2468880"/>
            <a:ext cx="2651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MCP tool named </a:t>
            </a:r>
            <a:pPr indent="0" marL="0">
              <a:buNone/>
            </a:pPr>
            <a:r>
              <a:rPr lang="en-US" sz="1400" b="1" dirty="0">
                <a:solidFill>
                  <a:srgbClr val="445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execute_swap</a:t>
            </a:r>
            <a:pPr indent="0" marL="0">
              <a:buNone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only prepares a transaction (L3). It does not move funds.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595360" y="411480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17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up front — not a surprise found in an audit.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Compliance screening at the choke point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57607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June 2026, UBS and Nethermind showed a regulated institution trading on public Ethereum with node-level address restrictions and private relay routing.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adapted the same idea to the layer we control: every swap we originate is screened against an allow/block list before it is ever signed — one single choke point in the code.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swap the bundled seed list for a commercial screening vendor or maintained feed via config.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858000" y="1417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modes — staged rollout by design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92024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86600" y="2029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disabled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2377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Default. Zero overhead, zero claims.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0" y="2944368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F4F7FD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08660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34015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and log — watch before you enforce.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0" y="3968496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86600" y="40782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enforce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442569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addresses never reach a signature.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10881360" cy="1005840"/>
          </a:xfrm>
          <a:prstGeom prst="roundRect">
            <a:avLst>
              <a:gd name="adj" fmla="val 8182"/>
            </a:avLst>
          </a:prstGeom>
          <a:solidFill>
            <a:srgbClr val="FFF7E8"/>
          </a:solidFill>
          <a:ln w="15875">
            <a:solidFill>
              <a:srgbClr val="E3B94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53949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 talk: </a:t>
            </a:r>
            <a:pPr indent="0" marL="0">
              <a:buNone/>
            </a:pPr>
            <a:r>
              <a:rPr lang="en-US" sz="1500" dirty="0">
                <a:solidFill>
                  <a:srgbClr val="6B5A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configurable, tested, auditable gate — not a compliance certification, and it ships off by default. We'd rather you trust the parts we can prove.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pay per call, in USDC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execution today isn't a human tapping a button. x402 pay-per-call means an autonomous agent with a wallet and no credit card can use this without a subscription.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3703320" cy="2651760"/>
          </a:xfrm>
          <a:prstGeom prst="roundRect">
            <a:avLst>
              <a:gd name="adj" fmla="val 3448"/>
            </a:avLst>
          </a:prstGeom>
          <a:solidFill>
            <a:srgbClr val="F4F7FD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97180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$0.001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quote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17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 intent across routers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17720" y="2606040"/>
            <a:ext cx="3703320" cy="2651760"/>
          </a:xfrm>
          <a:prstGeom prst="roundRect">
            <a:avLst>
              <a:gd name="adj" fmla="val 3448"/>
            </a:avLst>
          </a:prstGeom>
          <a:solidFill>
            <a:srgbClr val="1E2761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2971800"/>
            <a:ext cx="3703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$0.005</a:t>
            </a:r>
            <a:endParaRPr lang="en-US" sz="58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41605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executed swap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892040" y="46177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search-route-settle path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41080" y="2606040"/>
            <a:ext cx="2880360" cy="2651760"/>
          </a:xfrm>
          <a:prstGeom prst="roundRect">
            <a:avLst>
              <a:gd name="adj" fmla="val 3448"/>
            </a:avLst>
          </a:prstGeom>
          <a:solidFill>
            <a:srgbClr val="EAF9F4"/>
          </a:solidFill>
          <a:ln w="15875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15400" y="2926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179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 sales call.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36576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over HTTP, pay per request via x402, settle in USDC. </a:t>
            </a:r>
            <a:pPr indent="0" marL="0">
              <a:buNone/>
            </a:pPr>
            <a:r>
              <a:rPr lang="en-US" sz="1350" b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chains, 22 MCP tools exposed to agents today.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no screenshots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887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Telegram: t.me/SuwappuBot   ·   Terminal: terminal.suwappu.bot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78308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/start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78308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— a self-custody wallet is created here, not a shared pool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578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532888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  ·  /b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532888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+ balances, aggregated across chains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328416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28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282696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 0.004 ETH base USDC base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3282696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Same-chain swap — parallel quote discovery across eligible routers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078224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078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032504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 100 USDC ETH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4032504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Cross-chain form — the router picks the path, the user never names a bridge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82803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8280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782312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4782312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— the result, aggregated cross-chain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577840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5577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325880" y="5532120"/>
            <a:ext cx="4709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api.suwappu.bot/v1/agent/register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6126480" y="553212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technical rooms: the agent side, live — quotes paid per call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not claiming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room audits claims for a living. Here are ours, pre-audited.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207008"/>
          </a:xfrm>
          <a:prstGeom prst="roundRect">
            <a:avLst>
              <a:gd name="adj" fmla="val 6818"/>
            </a:avLst>
          </a:prstGeom>
          <a:solidFill>
            <a:srgbClr val="F4F7FD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29514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2951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213055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gate ≠ certification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Shipped, tested, auditable — and off by default. We don't claim it's enforcing on our own production traffic until it is.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383280"/>
            <a:ext cx="10881360" cy="1207008"/>
          </a:xfrm>
          <a:prstGeom prst="roundRect">
            <a:avLst>
              <a:gd name="adj" fmla="val 6818"/>
            </a:avLst>
          </a:prstGeom>
          <a:solidFill>
            <a:srgbClr val="F4F7FD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371246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37124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54787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list ≠ maintained feed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bundled screening list is a curated seed (OFAC-style). The interface is built for a Chainalysis/TRM-class vendor swap.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800600"/>
            <a:ext cx="10881360" cy="1207008"/>
          </a:xfrm>
          <a:prstGeom prst="roundRect">
            <a:avLst>
              <a:gd name="adj" fmla="val 6818"/>
            </a:avLst>
          </a:prstGeom>
          <a:solidFill>
            <a:srgbClr val="F4F7FD"/>
          </a:solidFill>
          <a:ln w="12700">
            <a:solidFill>
              <a:srgbClr val="DDE6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5129784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5129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965192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 exists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fee-denominated points design with a committed emission schedule is published. Pre-TGE — mechanism design, not an investment.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27336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5544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your token can move,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who can move it without asking.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91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Suwappu answers both — with code, not a deck.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27336E"/>
          </a:solidFill>
          <a:ln w="12700">
            <a:solidFill>
              <a:srgbClr val="3D4B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4480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8646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t.me/SuwappuBot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429768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27336E"/>
          </a:solidFill>
          <a:ln w="12700">
            <a:solidFill>
              <a:srgbClr val="3D4B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754880" y="4480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 it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48646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api.suwappu.bot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138160" y="4297680"/>
            <a:ext cx="3383280" cy="1234440"/>
          </a:xfrm>
          <a:prstGeom prst="roundRect">
            <a:avLst>
              <a:gd name="adj" fmla="val 7407"/>
            </a:avLst>
          </a:prstGeom>
          <a:solidFill>
            <a:srgbClr val="27336E"/>
          </a:solidFill>
          <a:ln w="12700">
            <a:solidFill>
              <a:srgbClr val="3D4B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12480" y="4480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0" y="48646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suwappu.bot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Stablecon DC ·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2026-08-26T18:58:19Z</dcterms:created>
  <dcterms:modified xsi:type="dcterms:W3CDTF">2026-08-26T18:58:19Z</dcterms:modified>
</cp:coreProperties>
</file>